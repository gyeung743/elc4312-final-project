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80402" autoAdjust="0"/>
  </p:normalViewPr>
  <p:slideViewPr>
    <p:cSldViewPr snapToGrid="0">
      <p:cViewPr varScale="1">
        <p:scale>
          <a:sx n="71" d="100"/>
          <a:sy n="71" d="100"/>
        </p:scale>
        <p:origin x="807"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843ED-2EF7-464A-BA3C-F6204E105E8E}"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241B3D-F414-4315-B213-A84974C77C21}" type="slidenum">
              <a:rPr lang="en-US" smtClean="0"/>
              <a:t>‹#›</a:t>
            </a:fld>
            <a:endParaRPr lang="en-US"/>
          </a:p>
        </p:txBody>
      </p:sp>
    </p:spTree>
    <p:extLst>
      <p:ext uri="{BB962C8B-B14F-4D97-AF65-F5344CB8AC3E}">
        <p14:creationId xmlns:p14="http://schemas.microsoft.com/office/powerpoint/2010/main" val="331260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final project, I designed a </a:t>
            </a:r>
            <a:r>
              <a:rPr lang="en-US" b="1" dirty="0"/>
              <a:t>Hardware Performance Monitor (HPM)</a:t>
            </a:r>
            <a:r>
              <a:rPr lang="en-US" dirty="0"/>
              <a:t>. The goal was to build a tool that acts like a monitoring tool for the processor, which allows us to see inside and measure code efficiency cycle-by-cycle without slowing down the software.</a:t>
            </a:r>
          </a:p>
        </p:txBody>
      </p:sp>
      <p:sp>
        <p:nvSpPr>
          <p:cNvPr id="4" name="Slide Number Placeholder 3"/>
          <p:cNvSpPr>
            <a:spLocks noGrp="1"/>
          </p:cNvSpPr>
          <p:nvPr>
            <p:ph type="sldNum" sz="quarter" idx="5"/>
          </p:nvPr>
        </p:nvSpPr>
        <p:spPr/>
        <p:txBody>
          <a:bodyPr/>
          <a:lstStyle/>
          <a:p>
            <a:fld id="{B9241B3D-F414-4315-B213-A84974C77C21}" type="slidenum">
              <a:rPr lang="en-US" smtClean="0"/>
              <a:t>1</a:t>
            </a:fld>
            <a:endParaRPr lang="en-US"/>
          </a:p>
        </p:txBody>
      </p:sp>
    </p:spTree>
    <p:extLst>
      <p:ext uri="{BB962C8B-B14F-4D97-AF65-F5344CB8AC3E}">
        <p14:creationId xmlns:p14="http://schemas.microsoft.com/office/powerpoint/2010/main" val="419109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measuring software performance is that usually, you have to add </a:t>
            </a:r>
            <a:r>
              <a:rPr lang="en-US" i="1" dirty="0"/>
              <a:t>more</a:t>
            </a:r>
            <a:r>
              <a:rPr lang="en-US" dirty="0"/>
              <a:t> software to measure it, which slows everything down. My solution was to offload that job to hardware. I built a custom peripheral that sits on the system bus and counts clock cycles and memory accesses in the background, which is completely independent of the CPU.</a:t>
            </a:r>
          </a:p>
        </p:txBody>
      </p:sp>
      <p:sp>
        <p:nvSpPr>
          <p:cNvPr id="4" name="Slide Number Placeholder 3"/>
          <p:cNvSpPr>
            <a:spLocks noGrp="1"/>
          </p:cNvSpPr>
          <p:nvPr>
            <p:ph type="sldNum" sz="quarter" idx="5"/>
          </p:nvPr>
        </p:nvSpPr>
        <p:spPr/>
        <p:txBody>
          <a:bodyPr/>
          <a:lstStyle/>
          <a:p>
            <a:fld id="{B9241B3D-F414-4315-B213-A84974C77C21}" type="slidenum">
              <a:rPr lang="en-US" smtClean="0"/>
              <a:t>2</a:t>
            </a:fld>
            <a:endParaRPr lang="en-US"/>
          </a:p>
        </p:txBody>
      </p:sp>
    </p:spTree>
    <p:extLst>
      <p:ext uri="{BB962C8B-B14F-4D97-AF65-F5344CB8AC3E}">
        <p14:creationId xmlns:p14="http://schemas.microsoft.com/office/powerpoint/2010/main" val="620826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of the design is unique. I used a 'Bus Snooping' architecture. While the CPU uses the standard MMIO bus to send start and stop commands to the core (in Slot 5), the core has a second set of inputs, which are the 'Snoop' lines. These wires are physically connected to the main system bus strobes. This means the core watches every single instruction fetch and memory access the CPU makes, without the CPU even knowing it's being monitored.</a:t>
            </a:r>
          </a:p>
        </p:txBody>
      </p:sp>
      <p:sp>
        <p:nvSpPr>
          <p:cNvPr id="4" name="Slide Number Placeholder 3"/>
          <p:cNvSpPr>
            <a:spLocks noGrp="1"/>
          </p:cNvSpPr>
          <p:nvPr>
            <p:ph type="sldNum" sz="quarter" idx="5"/>
          </p:nvPr>
        </p:nvSpPr>
        <p:spPr/>
        <p:txBody>
          <a:bodyPr/>
          <a:lstStyle/>
          <a:p>
            <a:fld id="{B9241B3D-F414-4315-B213-A84974C77C21}" type="slidenum">
              <a:rPr lang="en-US" smtClean="0"/>
              <a:t>3</a:t>
            </a:fld>
            <a:endParaRPr lang="en-US"/>
          </a:p>
        </p:txBody>
      </p:sp>
    </p:spTree>
    <p:extLst>
      <p:ext uri="{BB962C8B-B14F-4D97-AF65-F5344CB8AC3E}">
        <p14:creationId xmlns:p14="http://schemas.microsoft.com/office/powerpoint/2010/main" val="2891950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results were interesting. I ran fairly intense stress test to compare math vs. memory. The </a:t>
            </a:r>
            <a:r>
              <a:rPr lang="en-US" b="1" dirty="0"/>
              <a:t>Arithmetic test</a:t>
            </a:r>
            <a:r>
              <a:rPr lang="en-US" dirty="0"/>
              <a:t> took over 4 seconds and it averaged 425 cycles per operation because the </a:t>
            </a:r>
            <a:r>
              <a:rPr lang="en-US" dirty="0" err="1"/>
              <a:t>MicroBlaze</a:t>
            </a:r>
            <a:r>
              <a:rPr lang="en-US" dirty="0"/>
              <a:t> lacks a hardware divider, so it has to use a slow software library to do math. The </a:t>
            </a:r>
            <a:r>
              <a:rPr lang="en-US" b="1" dirty="0"/>
              <a:t>Memory test</a:t>
            </a:r>
            <a:r>
              <a:rPr lang="en-US" dirty="0"/>
              <a:t>, despite doing 10 times the operations, finished in just 1.3 seconds. This proves that the system is 'Compute Bound’ and that the memory is very fast, but the math is slow.</a:t>
            </a:r>
          </a:p>
        </p:txBody>
      </p:sp>
      <p:sp>
        <p:nvSpPr>
          <p:cNvPr id="4" name="Slide Number Placeholder 3"/>
          <p:cNvSpPr>
            <a:spLocks noGrp="1"/>
          </p:cNvSpPr>
          <p:nvPr>
            <p:ph type="sldNum" sz="quarter" idx="5"/>
          </p:nvPr>
        </p:nvSpPr>
        <p:spPr/>
        <p:txBody>
          <a:bodyPr/>
          <a:lstStyle/>
          <a:p>
            <a:fld id="{B9241B3D-F414-4315-B213-A84974C77C21}" type="slidenum">
              <a:rPr lang="en-US" smtClean="0"/>
              <a:t>5</a:t>
            </a:fld>
            <a:endParaRPr lang="en-US"/>
          </a:p>
        </p:txBody>
      </p:sp>
    </p:spTree>
    <p:extLst>
      <p:ext uri="{BB962C8B-B14F-4D97-AF65-F5344CB8AC3E}">
        <p14:creationId xmlns:p14="http://schemas.microsoft.com/office/powerpoint/2010/main" val="255304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system is fully functional and deterministic. It successfully identified a hardware bottleneck in the ALU. This project proves that hardware-level profiling provides insights that you can’t really get from looking at C++ code alone.</a:t>
            </a:r>
          </a:p>
        </p:txBody>
      </p:sp>
      <p:sp>
        <p:nvSpPr>
          <p:cNvPr id="4" name="Slide Number Placeholder 3"/>
          <p:cNvSpPr>
            <a:spLocks noGrp="1"/>
          </p:cNvSpPr>
          <p:nvPr>
            <p:ph type="sldNum" sz="quarter" idx="5"/>
          </p:nvPr>
        </p:nvSpPr>
        <p:spPr/>
        <p:txBody>
          <a:bodyPr/>
          <a:lstStyle/>
          <a:p>
            <a:fld id="{B9241B3D-F414-4315-B213-A84974C77C21}" type="slidenum">
              <a:rPr lang="en-US" smtClean="0"/>
              <a:t>6</a:t>
            </a:fld>
            <a:endParaRPr lang="en-US"/>
          </a:p>
        </p:txBody>
      </p:sp>
    </p:spTree>
    <p:extLst>
      <p:ext uri="{BB962C8B-B14F-4D97-AF65-F5344CB8AC3E}">
        <p14:creationId xmlns:p14="http://schemas.microsoft.com/office/powerpoint/2010/main" val="321172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1672270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575966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3562381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5508F5-F286-4A80-8D97-40DC55A24D2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399737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5508F5-F286-4A80-8D97-40DC55A24D22}"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38824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5508F5-F286-4A80-8D97-40DC55A24D22}"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3149658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5508F5-F286-4A80-8D97-40DC55A24D22}"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979596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5508F5-F286-4A80-8D97-40DC55A24D2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788186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5508F5-F286-4A80-8D97-40DC55A24D2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712394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5508F5-F286-4A80-8D97-40DC55A24D2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167829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136081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1973202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47254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3095872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217234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205985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5508F5-F286-4A80-8D97-40DC55A24D2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65D85A-B4CC-4918-98BB-94D9CDDC2625}" type="slidenum">
              <a:rPr lang="en-US" smtClean="0"/>
              <a:t>‹#›</a:t>
            </a:fld>
            <a:endParaRPr lang="en-US"/>
          </a:p>
        </p:txBody>
      </p:sp>
    </p:spTree>
    <p:extLst>
      <p:ext uri="{BB962C8B-B14F-4D97-AF65-F5344CB8AC3E}">
        <p14:creationId xmlns:p14="http://schemas.microsoft.com/office/powerpoint/2010/main" val="157236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45508F5-F286-4A80-8D97-40DC55A24D22}" type="datetimeFigureOut">
              <a:rPr lang="en-US" smtClean="0"/>
              <a:t>12/15/2025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65D85A-B4CC-4918-98BB-94D9CDDC2625}" type="slidenum">
              <a:rPr lang="en-US" smtClean="0"/>
              <a:t>‹#›</a:t>
            </a:fld>
            <a:endParaRPr lang="en-US"/>
          </a:p>
        </p:txBody>
      </p:sp>
    </p:spTree>
    <p:extLst>
      <p:ext uri="{BB962C8B-B14F-4D97-AF65-F5344CB8AC3E}">
        <p14:creationId xmlns:p14="http://schemas.microsoft.com/office/powerpoint/2010/main" val="23771826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7f2SLQ9a5eA" TargetMode="External"/><Relationship Id="rId2" Type="http://schemas.openxmlformats.org/officeDocument/2006/relationships/hyperlink" Target="https://github.com/gyeung743/ELC4312-Final-Projec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5A53-FA92-E286-A463-02A91258EE27}"/>
              </a:ext>
            </a:extLst>
          </p:cNvPr>
          <p:cNvSpPr>
            <a:spLocks noGrp="1"/>
          </p:cNvSpPr>
          <p:nvPr>
            <p:ph type="ctrTitle"/>
          </p:nvPr>
        </p:nvSpPr>
        <p:spPr/>
        <p:txBody>
          <a:bodyPr>
            <a:normAutofit fontScale="90000"/>
          </a:bodyPr>
          <a:lstStyle/>
          <a:p>
            <a:r>
              <a:rPr lang="en-US" dirty="0"/>
              <a:t>Hardware Performance Monitor (HPM) - </a:t>
            </a:r>
            <a:r>
              <a:rPr lang="en-US" dirty="0" err="1"/>
              <a:t>Nexys</a:t>
            </a:r>
            <a:r>
              <a:rPr lang="en-US" dirty="0"/>
              <a:t> 4 DDR / </a:t>
            </a:r>
            <a:r>
              <a:rPr lang="en-US" dirty="0" err="1"/>
              <a:t>MicroBlaze</a:t>
            </a:r>
            <a:r>
              <a:rPr lang="en-US" dirty="0"/>
              <a:t> MCS</a:t>
            </a:r>
          </a:p>
        </p:txBody>
      </p:sp>
      <p:sp>
        <p:nvSpPr>
          <p:cNvPr id="3" name="Subtitle 2">
            <a:extLst>
              <a:ext uri="{FF2B5EF4-FFF2-40B4-BE49-F238E27FC236}">
                <a16:creationId xmlns:a16="http://schemas.microsoft.com/office/drawing/2014/main" id="{3534DF70-A6B6-CB9F-CACF-17F95DE9B38E}"/>
              </a:ext>
            </a:extLst>
          </p:cNvPr>
          <p:cNvSpPr>
            <a:spLocks noGrp="1"/>
          </p:cNvSpPr>
          <p:nvPr>
            <p:ph type="subTitle" idx="1"/>
          </p:nvPr>
        </p:nvSpPr>
        <p:spPr/>
        <p:txBody>
          <a:bodyPr/>
          <a:lstStyle/>
          <a:p>
            <a:r>
              <a:rPr lang="en-US" dirty="0"/>
              <a:t>Gabriel Yeung</a:t>
            </a:r>
          </a:p>
          <a:p>
            <a:r>
              <a:rPr lang="en-US" dirty="0"/>
              <a:t>ELC 4312</a:t>
            </a:r>
          </a:p>
        </p:txBody>
      </p:sp>
    </p:spTree>
    <p:extLst>
      <p:ext uri="{BB962C8B-B14F-4D97-AF65-F5344CB8AC3E}">
        <p14:creationId xmlns:p14="http://schemas.microsoft.com/office/powerpoint/2010/main" val="3203506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90D6-A429-CF39-47E7-1E557418645D}"/>
              </a:ext>
            </a:extLst>
          </p:cNvPr>
          <p:cNvSpPr>
            <a:spLocks noGrp="1"/>
          </p:cNvSpPr>
          <p:nvPr>
            <p:ph type="title"/>
          </p:nvPr>
        </p:nvSpPr>
        <p:spPr/>
        <p:txBody>
          <a:bodyPr/>
          <a:lstStyle/>
          <a:p>
            <a:r>
              <a:rPr lang="en-US" dirty="0"/>
              <a:t>The Problem &amp; Solution</a:t>
            </a:r>
          </a:p>
        </p:txBody>
      </p:sp>
      <p:sp>
        <p:nvSpPr>
          <p:cNvPr id="3" name="Content Placeholder 2">
            <a:extLst>
              <a:ext uri="{FF2B5EF4-FFF2-40B4-BE49-F238E27FC236}">
                <a16:creationId xmlns:a16="http://schemas.microsoft.com/office/drawing/2014/main" id="{49A42C6C-21B8-B91F-EA0A-2E0D91062333}"/>
              </a:ext>
            </a:extLst>
          </p:cNvPr>
          <p:cNvSpPr>
            <a:spLocks noGrp="1"/>
          </p:cNvSpPr>
          <p:nvPr>
            <p:ph idx="1"/>
          </p:nvPr>
        </p:nvSpPr>
        <p:spPr/>
        <p:txBody>
          <a:bodyPr/>
          <a:lstStyle/>
          <a:p>
            <a:r>
              <a:rPr lang="en-US" dirty="0"/>
              <a:t>The Problem: Standard software profilers add code overhead. They change the timing of what you are trying to measure.</a:t>
            </a:r>
          </a:p>
          <a:p>
            <a:r>
              <a:rPr lang="en-US" dirty="0"/>
              <a:t>The Solution: Non-Intrusive Hardware Monitoring.</a:t>
            </a:r>
          </a:p>
          <a:p>
            <a:r>
              <a:rPr lang="en-US" dirty="0"/>
              <a:t>Implementation: A custom peripheral that sits passively on the system bus and counts events in real-time.</a:t>
            </a:r>
          </a:p>
        </p:txBody>
      </p:sp>
    </p:spTree>
    <p:extLst>
      <p:ext uri="{BB962C8B-B14F-4D97-AF65-F5344CB8AC3E}">
        <p14:creationId xmlns:p14="http://schemas.microsoft.com/office/powerpoint/2010/main" val="2784365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3191-4A94-F3B5-58FE-EBAFC97B54CE}"/>
              </a:ext>
            </a:extLst>
          </p:cNvPr>
          <p:cNvSpPr>
            <a:spLocks noGrp="1"/>
          </p:cNvSpPr>
          <p:nvPr>
            <p:ph type="title"/>
          </p:nvPr>
        </p:nvSpPr>
        <p:spPr/>
        <p:txBody>
          <a:bodyPr/>
          <a:lstStyle/>
          <a:p>
            <a:r>
              <a:rPr lang="en-US" dirty="0"/>
              <a:t>The Architecture ("Snooping")</a:t>
            </a:r>
          </a:p>
        </p:txBody>
      </p:sp>
      <p:sp>
        <p:nvSpPr>
          <p:cNvPr id="3" name="Content Placeholder 2">
            <a:extLst>
              <a:ext uri="{FF2B5EF4-FFF2-40B4-BE49-F238E27FC236}">
                <a16:creationId xmlns:a16="http://schemas.microsoft.com/office/drawing/2014/main" id="{7997E74B-D96B-9B15-EF51-D37C14A88AB3}"/>
              </a:ext>
            </a:extLst>
          </p:cNvPr>
          <p:cNvSpPr>
            <a:spLocks noGrp="1"/>
          </p:cNvSpPr>
          <p:nvPr>
            <p:ph idx="1"/>
          </p:nvPr>
        </p:nvSpPr>
        <p:spPr/>
        <p:txBody>
          <a:bodyPr/>
          <a:lstStyle/>
          <a:p>
            <a:r>
              <a:rPr lang="en-US" dirty="0"/>
              <a:t>Core Architecture: Bus Snooping.</a:t>
            </a:r>
          </a:p>
          <a:p>
            <a:r>
              <a:rPr lang="en-US" dirty="0"/>
              <a:t>Control Path: MMIO Slot 5 (Used to Start/Stop/Reset).</a:t>
            </a:r>
          </a:p>
          <a:p>
            <a:r>
              <a:rPr lang="en-US" dirty="0"/>
              <a:t>Monitor Path: Wires connected to </a:t>
            </a:r>
            <a:r>
              <a:rPr lang="en-US" dirty="0" err="1"/>
              <a:t>io_addr_strobe</a:t>
            </a:r>
            <a:r>
              <a:rPr lang="en-US" dirty="0"/>
              <a:t>, </a:t>
            </a:r>
            <a:r>
              <a:rPr lang="en-US" dirty="0" err="1"/>
              <a:t>io_read</a:t>
            </a:r>
            <a:r>
              <a:rPr lang="en-US" dirty="0"/>
              <a:t>, </a:t>
            </a:r>
            <a:r>
              <a:rPr lang="en-US" dirty="0" err="1"/>
              <a:t>io_write</a:t>
            </a:r>
            <a:r>
              <a:rPr lang="en-US" dirty="0"/>
              <a:t>.</a:t>
            </a:r>
          </a:p>
          <a:p>
            <a:r>
              <a:rPr lang="en-US" dirty="0"/>
              <a:t>Why: Captures 100% of bus traffic, even if the CPU is talking to other peripherals.</a:t>
            </a:r>
          </a:p>
        </p:txBody>
      </p:sp>
    </p:spTree>
    <p:extLst>
      <p:ext uri="{BB962C8B-B14F-4D97-AF65-F5344CB8AC3E}">
        <p14:creationId xmlns:p14="http://schemas.microsoft.com/office/powerpoint/2010/main" val="1174435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33" name="Rectangle 32">
            <a:extLst>
              <a:ext uri="{FF2B5EF4-FFF2-40B4-BE49-F238E27FC236}">
                <a16:creationId xmlns:a16="http://schemas.microsoft.com/office/drawing/2014/main" id="{7E123AAE-7C5D-4EC5-B570-7141C9405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BE68FE8-33EE-42EC-8894-04923755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omputer program&#10;&#10;AI-generated content may be incorrect.">
            <a:extLst>
              <a:ext uri="{FF2B5EF4-FFF2-40B4-BE49-F238E27FC236}">
                <a16:creationId xmlns:a16="http://schemas.microsoft.com/office/drawing/2014/main" id="{1B8196C7-F83F-DC4D-BE3E-7C97F2821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250" y="643467"/>
            <a:ext cx="5487499" cy="5571066"/>
          </a:xfrm>
          <a:prstGeom prst="rect">
            <a:avLst/>
          </a:prstGeom>
        </p:spPr>
      </p:pic>
    </p:spTree>
    <p:extLst>
      <p:ext uri="{BB962C8B-B14F-4D97-AF65-F5344CB8AC3E}">
        <p14:creationId xmlns:p14="http://schemas.microsoft.com/office/powerpoint/2010/main" val="655950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2E144-7B4E-C6B0-AE78-6B191D120A8D}"/>
              </a:ext>
            </a:extLst>
          </p:cNvPr>
          <p:cNvSpPr>
            <a:spLocks noGrp="1"/>
          </p:cNvSpPr>
          <p:nvPr>
            <p:ph type="title"/>
          </p:nvPr>
        </p:nvSpPr>
        <p:spPr/>
        <p:txBody>
          <a:bodyPr/>
          <a:lstStyle/>
          <a:p>
            <a:r>
              <a:rPr lang="en-US" dirty="0"/>
              <a:t>Experimental Results</a:t>
            </a:r>
          </a:p>
        </p:txBody>
      </p:sp>
      <p:sp>
        <p:nvSpPr>
          <p:cNvPr id="3" name="Content Placeholder 2">
            <a:extLst>
              <a:ext uri="{FF2B5EF4-FFF2-40B4-BE49-F238E27FC236}">
                <a16:creationId xmlns:a16="http://schemas.microsoft.com/office/drawing/2014/main" id="{5DAF3849-3873-B654-B2BE-819FBB63AAC1}"/>
              </a:ext>
            </a:extLst>
          </p:cNvPr>
          <p:cNvSpPr>
            <a:spLocks noGrp="1"/>
          </p:cNvSpPr>
          <p:nvPr>
            <p:ph idx="1"/>
          </p:nvPr>
        </p:nvSpPr>
        <p:spPr/>
        <p:txBody>
          <a:bodyPr>
            <a:noAutofit/>
          </a:bodyPr>
          <a:lstStyle/>
          <a:p>
            <a:r>
              <a:rPr lang="en-US" dirty="0"/>
              <a:t>Arithmetic Benchmark (1 Million Iterations):</a:t>
            </a:r>
          </a:p>
          <a:p>
            <a:pPr lvl="1"/>
            <a:r>
              <a:rPr lang="en-US" sz="2400" dirty="0"/>
              <a:t>Time: 4.25 seconds</a:t>
            </a:r>
          </a:p>
          <a:p>
            <a:pPr lvl="1"/>
            <a:r>
              <a:rPr lang="en-US" sz="2400" dirty="0"/>
              <a:t>Cycles per Operation: ~425</a:t>
            </a:r>
          </a:p>
          <a:p>
            <a:pPr lvl="1"/>
            <a:r>
              <a:rPr lang="en-US" sz="2400" dirty="0"/>
              <a:t>Bottleneck: No Hardware Divider (FPU).</a:t>
            </a:r>
          </a:p>
          <a:p>
            <a:r>
              <a:rPr lang="en-US" dirty="0"/>
              <a:t>Memory Benchmark (10 Million Operations):</a:t>
            </a:r>
          </a:p>
          <a:p>
            <a:pPr lvl="2"/>
            <a:r>
              <a:rPr lang="en-US" sz="2400" dirty="0"/>
              <a:t>Time: 1.31 seconds</a:t>
            </a:r>
          </a:p>
          <a:p>
            <a:pPr lvl="2"/>
            <a:r>
              <a:rPr lang="en-US" sz="2400" dirty="0"/>
              <a:t>Cycles per Operation: ~13</a:t>
            </a:r>
          </a:p>
          <a:p>
            <a:pPr lvl="2"/>
            <a:r>
              <a:rPr lang="en-US" sz="2400" dirty="0"/>
              <a:t>Advantage: Fast local Block RAM (BRAM).</a:t>
            </a:r>
          </a:p>
        </p:txBody>
      </p:sp>
    </p:spTree>
    <p:extLst>
      <p:ext uri="{BB962C8B-B14F-4D97-AF65-F5344CB8AC3E}">
        <p14:creationId xmlns:p14="http://schemas.microsoft.com/office/powerpoint/2010/main" val="367791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CD00-D3C9-02FA-0CCC-8E5970B6F6F3}"/>
              </a:ext>
            </a:extLst>
          </p:cNvPr>
          <p:cNvSpPr>
            <a:spLocks noGrp="1"/>
          </p:cNvSpPr>
          <p:nvPr>
            <p:ph type="title"/>
          </p:nvPr>
        </p:nvSpPr>
        <p:spPr/>
        <p:txBody>
          <a:bodyPr>
            <a:normAutofit/>
          </a:bodyPr>
          <a:lstStyle/>
          <a:p>
            <a:r>
              <a:rPr lang="en-US" sz="5400" dirty="0"/>
              <a:t>Conclusion</a:t>
            </a:r>
          </a:p>
        </p:txBody>
      </p:sp>
      <p:sp>
        <p:nvSpPr>
          <p:cNvPr id="3" name="Content Placeholder 2">
            <a:extLst>
              <a:ext uri="{FF2B5EF4-FFF2-40B4-BE49-F238E27FC236}">
                <a16:creationId xmlns:a16="http://schemas.microsoft.com/office/drawing/2014/main" id="{5E253F89-B1F8-4047-D6EC-1AC81E6C92D9}"/>
              </a:ext>
            </a:extLst>
          </p:cNvPr>
          <p:cNvSpPr>
            <a:spLocks noGrp="1"/>
          </p:cNvSpPr>
          <p:nvPr>
            <p:ph idx="1"/>
          </p:nvPr>
        </p:nvSpPr>
        <p:spPr/>
        <p:txBody>
          <a:bodyPr>
            <a:normAutofit/>
          </a:bodyPr>
          <a:lstStyle/>
          <a:p>
            <a:r>
              <a:rPr lang="en-US" dirty="0"/>
              <a:t>Status: Fully functional &amp; Deterministic.</a:t>
            </a:r>
          </a:p>
          <a:p>
            <a:pPr lvl="1"/>
            <a:r>
              <a:rPr lang="en-US" sz="2400" dirty="0"/>
              <a:t>Key Insight: Hardware profiling shows the architectural bottlenecks not seen by software.</a:t>
            </a:r>
          </a:p>
          <a:p>
            <a:pPr lvl="1"/>
            <a:r>
              <a:rPr lang="en-US" sz="2400" dirty="0"/>
              <a:t>Future Use: Can be used to optimize more critical real-time algorithms.</a:t>
            </a:r>
          </a:p>
        </p:txBody>
      </p:sp>
    </p:spTree>
    <p:extLst>
      <p:ext uri="{BB962C8B-B14F-4D97-AF65-F5344CB8AC3E}">
        <p14:creationId xmlns:p14="http://schemas.microsoft.com/office/powerpoint/2010/main" val="247159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9839-3311-1C61-06F9-9A7A5BEEC6DB}"/>
              </a:ext>
            </a:extLst>
          </p:cNvPr>
          <p:cNvSpPr>
            <a:spLocks noGrp="1"/>
          </p:cNvSpPr>
          <p:nvPr>
            <p:ph type="title"/>
          </p:nvPr>
        </p:nvSpPr>
        <p:spPr/>
        <p:txBody>
          <a:bodyPr>
            <a:normAutofit/>
          </a:bodyPr>
          <a:lstStyle/>
          <a:p>
            <a:r>
              <a:rPr lang="en-US" sz="5400" dirty="0" err="1"/>
              <a:t>Github</a:t>
            </a:r>
            <a:r>
              <a:rPr lang="en-US" sz="5400" dirty="0"/>
              <a:t> Repo and YouTube Demo</a:t>
            </a:r>
          </a:p>
        </p:txBody>
      </p:sp>
      <p:sp>
        <p:nvSpPr>
          <p:cNvPr id="3" name="Content Placeholder 2">
            <a:extLst>
              <a:ext uri="{FF2B5EF4-FFF2-40B4-BE49-F238E27FC236}">
                <a16:creationId xmlns:a16="http://schemas.microsoft.com/office/drawing/2014/main" id="{A6885594-4AC0-7D03-3EE8-DFE6910B3354}"/>
              </a:ext>
            </a:extLst>
          </p:cNvPr>
          <p:cNvSpPr>
            <a:spLocks noGrp="1"/>
          </p:cNvSpPr>
          <p:nvPr>
            <p:ph idx="1"/>
          </p:nvPr>
        </p:nvSpPr>
        <p:spPr/>
        <p:txBody>
          <a:bodyPr>
            <a:normAutofit/>
          </a:bodyPr>
          <a:lstStyle/>
          <a:p>
            <a:pPr marL="0" indent="0" algn="ctr">
              <a:buNone/>
            </a:pPr>
            <a:r>
              <a:rPr lang="en-US" sz="4000" dirty="0">
                <a:hlinkClick r:id="rId2"/>
              </a:rPr>
              <a:t>GitHub Project Repository</a:t>
            </a:r>
            <a:endParaRPr lang="en-US" sz="4000" dirty="0"/>
          </a:p>
          <a:p>
            <a:pPr marL="0" indent="0" algn="ctr">
              <a:buNone/>
            </a:pPr>
            <a:r>
              <a:rPr lang="en-US" sz="4000" dirty="0">
                <a:hlinkClick r:id="rId3"/>
              </a:rPr>
              <a:t>HPM Video Demonstration</a:t>
            </a:r>
            <a:endParaRPr lang="en-US" sz="4000" dirty="0"/>
          </a:p>
        </p:txBody>
      </p:sp>
    </p:spTree>
    <p:extLst>
      <p:ext uri="{BB962C8B-B14F-4D97-AF65-F5344CB8AC3E}">
        <p14:creationId xmlns:p14="http://schemas.microsoft.com/office/powerpoint/2010/main" val="31326130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36</TotalTime>
  <Words>576</Words>
  <Application>Microsoft Office PowerPoint</Application>
  <PresentationFormat>Widescreen</PresentationFormat>
  <Paragraphs>38</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Corbel</vt:lpstr>
      <vt:lpstr>Parallax</vt:lpstr>
      <vt:lpstr>Hardware Performance Monitor (HPM) - Nexys 4 DDR / MicroBlaze MCS</vt:lpstr>
      <vt:lpstr>The Problem &amp; Solution</vt:lpstr>
      <vt:lpstr>The Architecture ("Snooping")</vt:lpstr>
      <vt:lpstr>PowerPoint Presentation</vt:lpstr>
      <vt:lpstr>Experimental Results</vt:lpstr>
      <vt:lpstr>Conclusion</vt:lpstr>
      <vt:lpstr>Github Repo and YouTube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Yeung, Gabriel</dc:creator>
  <cp:lastModifiedBy>Yeung, Gabriel</cp:lastModifiedBy>
  <cp:revision>13</cp:revision>
  <dcterms:created xsi:type="dcterms:W3CDTF">2025-12-15T10:13:01Z</dcterms:created>
  <dcterms:modified xsi:type="dcterms:W3CDTF">2025-12-15T10:49:16Z</dcterms:modified>
</cp:coreProperties>
</file>